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HealthCare Agentic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E0EF"/>
                </a:solidFill>
                <a:latin typeface="Calibri"/>
              </a:defRPr>
            </a:pPr>
            <a:r>
              <a:t>AI-Powered Multi-Agent Clinical Decision Support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1828800" cy="41148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FHIR R4 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57600"/>
            <a:ext cx="1828800" cy="41148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HIPAA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657600"/>
            <a:ext cx="1828800" cy="41148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Multi-Agent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59" y="3657600"/>
            <a:ext cx="1828800" cy="41148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Physician-in-the-Loop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Empowering clinicians with intelligent, evidence-based diagnostic</a:t>
            </a:r>
            <a:br/>
            <a:r>
              <a:t>and treatment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E0EF"/>
                </a:solidFill>
                <a:latin typeface="Calibri"/>
              </a:defRPr>
            </a:pPr>
            <a:r>
              <a:t>github.com/hassanmzia/HealthCare-Agentic-Platform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Challenge in Healthcare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286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6F51"/>
                </a:solidFill>
                <a:latin typeface="Calibri"/>
              </a:defRPr>
            </a:pPr>
            <a:r>
              <a:t>49%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3E8A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Clinicians spend 49% of time on</a:t>
            </a:r>
            <a:br/>
            <a:r>
              <a:t>documentation, not patient 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2286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6F51"/>
                </a:solidFill>
                <a:latin typeface="Calibri"/>
              </a:defRPr>
            </a:pPr>
            <a:r>
              <a:t>5+ yrs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3E8A"/>
                </a:solidFill>
                <a:latin typeface="Calibri"/>
              </a:defRPr>
            </a:pPr>
            <a:r>
              <a:t>Diagnostic Delays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Average rare disease diagnosis</a:t>
            </a:r>
            <a:br/>
            <a:r>
              <a:t>takes 5+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2286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6F51"/>
                </a:solidFill>
                <a:latin typeface="Calibri"/>
              </a:defRPr>
            </a:pPr>
            <a:r>
              <a:t>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3E8A"/>
                </a:solidFill>
                <a:latin typeface="Calibri"/>
              </a:defRPr>
            </a:pPr>
            <a:r>
              <a:t>Medication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7,000-9,000 annual deaths from</a:t>
            </a:r>
            <a:br/>
            <a:r>
              <a:t>preventable drug errors (US)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2286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6F51"/>
                </a:solidFill>
                <a:latin typeface="Calibri"/>
              </a:defRPr>
            </a:pPr>
            <a:r>
              <a:t>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3E8A"/>
                </a:solidFill>
                <a:latin typeface="Calibri"/>
              </a:defRPr>
            </a:pPr>
            <a:r>
              <a:t>Clinician Burnout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60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63% of physicians report</a:t>
            </a:r>
            <a:br/>
            <a:r>
              <a:t>burnout symptoms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11247120" cy="1097280"/>
          </a:xfrm>
          <a:prstGeom prst="roundRect">
            <a:avLst/>
          </a:prstGeom>
          <a:solidFill>
            <a:srgbClr val="FEF0E0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6F51"/>
                </a:solidFill>
                <a:latin typeface="Calibri"/>
              </a:defRPr>
            </a:pPr>
            <a:r>
              <a:t>The Cost of Inaction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$750B+ annual healthcare waste  |  12M diagnostic errors/year  |  30% clinical time spent searching for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Solution: AI-Augmented Clinical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920240" cy="164592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3E8A"/>
                </a:solidFill>
                <a:latin typeface="Calibri"/>
              </a:defRPr>
            </a:pPr>
            <a:r>
              <a:t>Patient Data</a:t>
            </a:r>
            <a:br/>
            <a:r>
              <a:t>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Vitals, Labs,</a:t>
            </a:r>
            <a:br/>
            <a:r>
              <a:t>History, Imaging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7B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1920240" cy="1645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3E8A"/>
                </a:solidFill>
                <a:latin typeface="Calibri"/>
              </a:defRPr>
            </a:pPr>
            <a:r>
              <a:t>Multi-Agent</a:t>
            </a:r>
            <a:br/>
            <a:r>
              <a:t>AI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7+ Specialist</a:t>
            </a:r>
            <a:br/>
            <a:r>
              <a:t>Agents Collaborate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7B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1920240" cy="1645920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3E8A"/>
                </a:solidFill>
                <a:latin typeface="Calibri"/>
              </a:defRPr>
            </a:pPr>
            <a:r>
              <a:t>Comprehensive</a:t>
            </a:r>
            <a:br/>
            <a:r>
              <a:t>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103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Diagnoses, Treatments,</a:t>
            </a:r>
            <a:br/>
            <a:r>
              <a:t>Safety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7B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371600"/>
            <a:ext cx="1920240" cy="164592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3E8A"/>
                </a:solidFill>
                <a:latin typeface="Calibri"/>
              </a:defRPr>
            </a:pPr>
            <a:r>
              <a:t>Physician</a:t>
            </a:r>
            <a:br/>
            <a: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103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Approve, Modify,</a:t>
            </a:r>
            <a:br/>
            <a:r>
              <a:t>or Reject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7B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371600"/>
            <a:ext cx="1920240" cy="164592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3E8A"/>
                </a:solidFill>
                <a:latin typeface="Calibri"/>
              </a:defRPr>
            </a:pPr>
            <a:r>
              <a:t>Clinical</a:t>
            </a:r>
            <a:br/>
            <a: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103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EHR Integration,</a:t>
            </a:r>
            <a:br/>
            <a:r>
              <a:t>FHIR Writeback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3E8A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2651760" cy="118872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3E8A"/>
                </a:solidFill>
                <a:latin typeface="Calibri"/>
              </a:defRPr>
            </a:pPr>
            <a:r>
              <a:t>Multi-Agent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7+ specialist agents collaborate</a:t>
            </a:r>
            <a:br/>
            <a:r>
              <a:t>like a real clinical care team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023360"/>
            <a:ext cx="2651760" cy="118872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3E8A"/>
                </a:solidFill>
                <a:latin typeface="Calibri"/>
              </a:defRPr>
            </a:pPr>
            <a:r>
              <a:t>Physician-in-the-Loop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80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Every recommendation requires</a:t>
            </a:r>
            <a:br/>
            <a:r>
              <a:t>physician review before 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023360"/>
            <a:ext cx="2651760" cy="118872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3E8A"/>
                </a:solidFill>
                <a:latin typeface="Calibri"/>
              </a:defRPr>
            </a:pPr>
            <a:r>
              <a:t>FHIR-Native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480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Built on HL7 FHIR R4 for</a:t>
            </a:r>
            <a:br/>
            <a:r>
              <a:t>seamless EHR interoperability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4023360"/>
            <a:ext cx="2651760" cy="118872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3E8A"/>
                </a:solidFill>
                <a:latin typeface="Calibri"/>
              </a:defRPr>
            </a:pPr>
            <a:r>
              <a:t>Evidence-Based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4805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Clinical guidelines embedded in</a:t>
            </a:r>
            <a:br/>
            <a:r>
              <a:t>vector DB for grounded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Multi-Agent Clinical AI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931920" cy="640080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SUPERVISOR AGENT</a:t>
            </a:r>
            <a:br/>
            <a:r>
              <a:t>Orchestrates All Specialists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Diagnostician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Differential Dx</a:t>
            </a:r>
            <a:br/>
            <a:r>
              <a:t>Confidence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286000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423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88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Care Plans</a:t>
            </a:r>
            <a:br/>
            <a:r>
              <a:t>Dosing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286000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2423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788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Drug Interactions</a:t>
            </a:r>
            <a:br/>
            <a:r>
              <a:t>Allergy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2286000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423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Medical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788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ICD-10 Codes</a:t>
            </a:r>
            <a:br/>
            <a:r>
              <a:t>CPT Codes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2286000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423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Cardiology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88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ECG Analysis</a:t>
            </a:r>
            <a:br/>
            <a:r>
              <a:t>Cardiac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Radiology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5195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Imaging Review</a:t>
            </a:r>
            <a:br/>
            <a:r>
              <a:t>Finding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749039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886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Pathology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5195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Lab Interpretation</a:t>
            </a:r>
            <a:br/>
            <a:r>
              <a:t>Result Trending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749039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9" y="3886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Oncology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25195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Tumor Markers</a:t>
            </a:r>
            <a:br/>
            <a:r>
              <a:t>Cancer Screening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199" y="3749039"/>
            <a:ext cx="1920240" cy="1188720"/>
          </a:xfrm>
          <a:prstGeom prst="roundRect">
            <a:avLst/>
          </a:prstGeom>
          <a:solidFill>
            <a:srgbClr val="FFF9E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886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3E8A"/>
                </a:solidFill>
                <a:latin typeface="Calibri"/>
              </a:defRPr>
            </a:pPr>
            <a:r>
              <a:t>Gastroenterology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25195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GI Procedures</a:t>
            </a:r>
            <a:br/>
            <a:r>
              <a:t>GI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— 14 Microservices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09728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3E8A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React 19 + TypeScript + Vite + Recharts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25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Doctor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325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Patient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25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Vitals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325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Labs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1325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Alerts &amp;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11247120" cy="109728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3E8A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Django 5.0 + DRF + Celery + Redis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60604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Patients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60604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Clinical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0604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Vitals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60604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Labs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260604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Medications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11247120" cy="10972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3E8A"/>
                </a:solidFill>
                <a:latin typeface="Calibri"/>
              </a:defRPr>
            </a:pPr>
            <a:r>
              <a:t>AI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FastAPI + LangGraph + Claude/Ollama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88620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Supervisor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88620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Diagnostician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88620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Treatment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88620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388620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Coding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37760"/>
            <a:ext cx="11247120" cy="10972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3E8A"/>
                </a:solidFill>
                <a:latin typeface="Calibri"/>
              </a:defRPr>
            </a:pPr>
            <a:r>
              <a:t>MCP TOOL SERVERS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120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Model Context Protocol + HAPI FHIR R4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516636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FHIR Server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516636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Labs Server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516636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RAG Server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516636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Pharmacy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20" y="516636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3E8A"/>
                </a:solidFill>
                <a:latin typeface="Calibri"/>
              </a:defRPr>
            </a:pPr>
            <a:r>
              <a:t>FHIR Adapter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1828800"/>
            <a:ext cx="2011680" cy="64008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3E8A"/>
                </a:solidFill>
                <a:latin typeface="Calibri"/>
              </a:defRPr>
            </a:pPr>
            <a:r>
              <a:t>PostgreSQL 16</a:t>
            </a:r>
            <a:br/>
            <a:r>
              <a:t>+ pgvector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2651760"/>
            <a:ext cx="2011680" cy="45720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3E8A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3291840"/>
            <a:ext cx="2011680" cy="45720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3E8A"/>
                </a:solidFill>
                <a:latin typeface="Calibri"/>
              </a:defRPr>
            </a:pPr>
            <a:r>
              <a:t>ChromaDB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438912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3E8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React 19 — UI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TypeScript 5.9 — Type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Vite 7 — Build 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TanStack Query — Server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Recharts — Data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Nginx — Reverse proxy + SSL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188720"/>
            <a:ext cx="2651760" cy="438912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3E8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Django 5.0 —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Django REST Framework — Serialization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PostgreSQL 16 — Primary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pgvector — Vector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Celery + Redis — Async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JWT — Authentication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2651760" cy="43891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3E8A"/>
                </a:solidFill>
                <a:latin typeface="Calibri"/>
              </a:defRPr>
            </a:pPr>
            <a:r>
              <a:t>AI /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Claude (Anthropic) — Primary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Ollama — Local LLM alternative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LangGraph — Agent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ChromaDB — Vector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Sentence-Transformers — 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Model Context Protocol — Tool comm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188720"/>
            <a:ext cx="2651760" cy="438912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19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3E8A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Docker Compose —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FastAPI — AI orchestrator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HAPI FHIR — FHIR R4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SSL/TLS — Encryption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Healthchecks — Service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59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Docker Network — Service mesh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5486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Multi-agent differential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Confidence-scored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Evidence-based treatment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Automated medical coding (ICD-10/CPT)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Clinical guidelines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51760" cy="5486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IoT device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Continuous vital sign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Configurable alert thresholds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Critical value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Automated notification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651760" cy="54864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Physician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Review &amp; approve AI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Auto-generated clinical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SOAP notes &amp; discharge summaries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Digital physician signatures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Complete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188720"/>
            <a:ext cx="2651760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HIPAA-ready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JWT + role-based access (6 roles)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Patient data segregation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SSL/TLS 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Before/after audit logging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3E8A"/>
                </a:solidFill>
                <a:latin typeface="Calibri"/>
              </a:defRPr>
            </a:pPr>
            <a:r>
              <a:t>Expected ROI Metrics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54880"/>
            <a:ext cx="1828800" cy="10972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7B6"/>
                </a:solidFill>
                <a:latin typeface="Calibri"/>
              </a:defRPr>
            </a:pPr>
            <a:r>
              <a:t>-50%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57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Documentation</a:t>
            </a:r>
            <a:br/>
            <a:r>
              <a:t>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4754880"/>
            <a:ext cx="1828800" cy="10972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7B6"/>
                </a:solidFill>
                <a:latin typeface="Calibri"/>
              </a:defRPr>
            </a:pPr>
            <a:r>
              <a:t>+40%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257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Diagnostic</a:t>
            </a:r>
            <a:br/>
            <a:r>
              <a:t>Accuracy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4754880"/>
            <a:ext cx="1828800" cy="10972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59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7B6"/>
                </a:solidFill>
                <a:latin typeface="Calibri"/>
              </a:defRPr>
            </a:pPr>
            <a:r>
              <a:t>+20%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59" y="5257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Coding Revenue</a:t>
            </a:r>
            <a:br/>
            <a:r>
              <a:t>Recovery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4754880"/>
            <a:ext cx="1828800" cy="10972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19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7B6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5257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Drug Interaction</a:t>
            </a:r>
            <a:br/>
            <a:r>
              <a:t>Detection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0" y="4754880"/>
            <a:ext cx="1828800" cy="10972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7B6"/>
                </a:solidFill>
                <a:latin typeface="Calibri"/>
              </a:defRPr>
            </a:pPr>
            <a:r>
              <a:t>+30%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5257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Clinician</a:t>
            </a:r>
            <a:br/>
            <a:r>
              <a:t>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&amp; Service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03120" cy="1005840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clinician-ui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:3030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React + Nginx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188720"/>
            <a:ext cx="2103120" cy="100584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Django 5.0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188720"/>
            <a:ext cx="2103120" cy="100584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Celery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59" y="1188720"/>
            <a:ext cx="2103120" cy="10058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799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799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799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FastAPI + LangGraph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188720"/>
            <a:ext cx="2103120" cy="1005840"/>
          </a:xfrm>
          <a:prstGeom prst="roundRect">
            <a:avLst/>
          </a:prstGeom>
          <a:solidFill>
            <a:srgbClr val="E6FFC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iot-simulator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468880"/>
            <a:ext cx="210312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mcp-fhir-server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FHIR Read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2468880"/>
            <a:ext cx="210312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mcp-labs-server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Lab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2468880"/>
            <a:ext cx="210312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9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mcp-rag-server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9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79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Clinical RAG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59" y="2468880"/>
            <a:ext cx="210312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799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mcp-pharmacy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799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799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Drug Formulary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2468880"/>
            <a:ext cx="210312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19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mcp-fhir-adapter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19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FHIR Writeback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749039"/>
            <a:ext cx="2103120" cy="1005840"/>
          </a:xfrm>
          <a:prstGeom prst="roundRect">
            <a:avLst/>
          </a:prstGeom>
          <a:solidFill>
            <a:srgbClr val="FFE6CC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8404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hapi-fhir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:18090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389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FHIR R4 Server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88920" y="3749039"/>
            <a:ext cx="2103120" cy="100584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38404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:5432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4389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3749039"/>
            <a:ext cx="2103120" cy="100584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79" y="38404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9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:6379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79" y="4389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Message Broker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2359" y="3749039"/>
            <a:ext cx="2103120" cy="1005840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799" y="38404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3E8A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799" y="4114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7B6"/>
                </a:solidFill>
                <a:latin typeface="Calibri"/>
              </a:defRPr>
            </a:pPr>
            <a:r>
              <a:t>:8009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799" y="4389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120640"/>
            <a:ext cx="11247120" cy="13716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0E0EF"/>
                </a:solidFill>
                <a:latin typeface="Calibri"/>
              </a:defRPr>
            </a:pPr>
            <a:r>
              <a:t>Quick Start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5577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E0EF"/>
                </a:solidFill>
                <a:latin typeface="Courier New"/>
              </a:defRPr>
            </a:pPr>
            <a:r>
              <a:t>$ git clone https://github.com/hassanmzia/HealthCare-Agentic-Platform.git</a:t>
            </a:r>
            <a:br/>
            <a:r>
              <a:t>$ cd HealthCare-Agentic-Platform</a:t>
            </a:r>
            <a:br/>
            <a:r>
              <a:t>$ docker-compose up -d                    # Launch all 14 services</a:t>
            </a:r>
            <a:br/>
            <a:r>
              <a:t># Access dashboard at https://localhost:3030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HealthCare Agentic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E0EF"/>
                </a:solidFill>
                <a:latin typeface="Calibri"/>
              </a:defRPr>
            </a:pPr>
            <a:r>
              <a:t>AI-Powered Clinical Intelligence.</a:t>
            </a:r>
            <a:br/>
            <a:r>
              <a:t>Physician-Approved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474720"/>
            <a:ext cx="1920240" cy="137160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7+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  <a:latin typeface="Calibri"/>
              </a:defRPr>
            </a:pPr>
            <a:r>
              <a:t>AI Specialist</a:t>
            </a:r>
            <a:br/>
            <a:r>
              <a:t>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474720"/>
            <a:ext cx="1920240" cy="137160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  <a:latin typeface="Calibri"/>
              </a:defRPr>
            </a:pPr>
            <a:r>
              <a:t>Docker</a:t>
            </a:r>
            <a:br/>
            <a:r>
              <a:t>Microservices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74720"/>
            <a:ext cx="1920240" cy="137160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FHIR R4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  <a:latin typeface="Calibri"/>
              </a:defRPr>
            </a:pPr>
            <a:r>
              <a:t>Healthcare</a:t>
            </a:r>
            <a:br/>
            <a:r>
              <a:t>Interoperability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474720"/>
            <a:ext cx="1920240" cy="1371600"/>
          </a:xfrm>
          <a:prstGeom prst="roundRect">
            <a:avLst/>
          </a:prstGeom>
          <a:solidFill>
            <a:srgbClr val="04509A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566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HIPAA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E0EF"/>
                </a:solidFill>
                <a:latin typeface="Calibri"/>
              </a:defRPr>
            </a:pPr>
            <a:r>
              <a:t>Compliance</a:t>
            </a:r>
            <a:br/>
            <a: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E0EF"/>
                </a:solidFill>
                <a:latin typeface="Calibri"/>
              </a:defRPr>
            </a:pPr>
            <a:r>
              <a:t>github.com/hassanmzia/HealthCare-Agentic-Platform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Built with Django  |  React  |  LangGraph  |  Claude AI  |  FHIR R4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